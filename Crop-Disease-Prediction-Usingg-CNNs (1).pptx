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D4306-D150-8843-BE4F-CE534AF30930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0F7B0-2B6D-2547-89BB-7870B1C4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6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0677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547"/>
            <a:ext cx="5486400" cy="76467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1425535"/>
            <a:ext cx="7556421" cy="29346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702"/>
              </a:lnSpc>
              <a:buNone/>
            </a:pPr>
            <a:r>
              <a:rPr lang="en-US" sz="6162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Crop Disease Prediction Using CNNs</a:t>
            </a:r>
            <a:endParaRPr lang="en-US" sz="6162" dirty="0"/>
          </a:p>
        </p:txBody>
      </p:sp>
      <p:sp>
        <p:nvSpPr>
          <p:cNvPr id="6" name="Text 2"/>
          <p:cNvSpPr/>
          <p:nvPr/>
        </p:nvSpPr>
        <p:spPr>
          <a:xfrm>
            <a:off x="6280190" y="4700349"/>
            <a:ext cx="7556421" cy="1451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58"/>
              </a:lnSpc>
              <a:buNone/>
            </a:pPr>
            <a:r>
              <a:rPr lang="en-US" sz="1786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presentation explores the exciting world of crop disease prediction using Convolutional Neural Networks (CNNs). CNNs are a powerful tool for image analysis, enabling us to accurately identify plant diseases from visual data.</a:t>
            </a:r>
            <a:endParaRPr lang="en-US" sz="1786" dirty="0"/>
          </a:p>
        </p:txBody>
      </p:sp>
      <p:sp>
        <p:nvSpPr>
          <p:cNvPr id="7" name="Shape 3"/>
          <p:cNvSpPr/>
          <p:nvPr/>
        </p:nvSpPr>
        <p:spPr>
          <a:xfrm>
            <a:off x="6280190" y="642401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643093" y="498679"/>
            <a:ext cx="1728430" cy="3968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26"/>
              </a:lnSpc>
              <a:buNone/>
            </a:pPr>
            <a:r>
              <a:rPr lang="en-US" sz="2233" b="1" dirty="0" smtClean="0">
                <a:solidFill>
                  <a:srgbClr val="272525"/>
                </a:solidFill>
                <a:latin typeface="Garamond" panose="02020404030301010803" pitchFamily="18" charset="0"/>
                <a:ea typeface="Lato" pitchFamily="34" charset="-122"/>
                <a:cs typeface="Lato" pitchFamily="34" charset="-120"/>
              </a:rPr>
              <a:t>Ayush Bari </a:t>
            </a:r>
          </a:p>
          <a:p>
            <a:pPr marL="0" indent="0" algn="l">
              <a:lnSpc>
                <a:spcPts val="3126"/>
              </a:lnSpc>
              <a:buNone/>
            </a:pPr>
            <a:endParaRPr lang="en-US" sz="2233" dirty="0"/>
          </a:p>
        </p:txBody>
      </p:sp>
      <p:sp>
        <p:nvSpPr>
          <p:cNvPr id="8" name="Rectangle 7"/>
          <p:cNvSpPr/>
          <p:nvPr/>
        </p:nvSpPr>
        <p:spPr>
          <a:xfrm>
            <a:off x="6643093" y="551485"/>
            <a:ext cx="1728430" cy="3968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44" y="1537397"/>
            <a:ext cx="5486400" cy="51347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46495" y="765215"/>
            <a:ext cx="7623810" cy="13573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344"/>
              </a:lnSpc>
              <a:buNone/>
            </a:pPr>
            <a:r>
              <a:rPr lang="en-US" sz="4275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Importance of Crop Disease Identification</a:t>
            </a:r>
            <a:endParaRPr lang="en-US" sz="4275" dirty="0"/>
          </a:p>
        </p:txBody>
      </p:sp>
      <p:sp>
        <p:nvSpPr>
          <p:cNvPr id="6" name="Text 2"/>
          <p:cNvSpPr/>
          <p:nvPr/>
        </p:nvSpPr>
        <p:spPr>
          <a:xfrm>
            <a:off x="6246495" y="2448282"/>
            <a:ext cx="7623810" cy="10422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6"/>
              </a:lnSpc>
              <a:buNone/>
            </a:pPr>
            <a:r>
              <a:rPr lang="en-US" sz="171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Prompt disease detection is crucial for ensuring optimal crop yield and minimizing economic losses. Early intervention through accurate diagnosis can save entire harvests and ensure food security.</a:t>
            </a:r>
            <a:endParaRPr lang="en-US" sz="1710" dirty="0"/>
          </a:p>
        </p:txBody>
      </p:sp>
      <p:sp>
        <p:nvSpPr>
          <p:cNvPr id="7" name="Shape 3"/>
          <p:cNvSpPr/>
          <p:nvPr/>
        </p:nvSpPr>
        <p:spPr>
          <a:xfrm>
            <a:off x="6246495" y="3979188"/>
            <a:ext cx="488633" cy="488633"/>
          </a:xfrm>
          <a:prstGeom prst="roundRect">
            <a:avLst>
              <a:gd name="adj" fmla="val 18667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20803" y="4060627"/>
            <a:ext cx="140018" cy="32575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65"/>
              </a:lnSpc>
              <a:buNone/>
            </a:pPr>
            <a:r>
              <a:rPr lang="en-US" sz="2565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565" dirty="0"/>
          </a:p>
        </p:txBody>
      </p:sp>
      <p:sp>
        <p:nvSpPr>
          <p:cNvPr id="9" name="Text 5"/>
          <p:cNvSpPr/>
          <p:nvPr/>
        </p:nvSpPr>
        <p:spPr>
          <a:xfrm>
            <a:off x="6952298" y="3979188"/>
            <a:ext cx="2714625" cy="3393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72"/>
              </a:lnSpc>
              <a:buNone/>
            </a:pPr>
            <a:r>
              <a:rPr lang="en-US" sz="2138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Yield Protection</a:t>
            </a:r>
            <a:endParaRPr lang="en-US" sz="2138" dirty="0"/>
          </a:p>
        </p:txBody>
      </p:sp>
      <p:sp>
        <p:nvSpPr>
          <p:cNvPr id="10" name="Text 6"/>
          <p:cNvSpPr/>
          <p:nvPr/>
        </p:nvSpPr>
        <p:spPr>
          <a:xfrm>
            <a:off x="6952298" y="4448770"/>
            <a:ext cx="2997518" cy="10422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6"/>
              </a:lnSpc>
              <a:buNone/>
            </a:pPr>
            <a:r>
              <a:rPr lang="en-US" sz="171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Preventing widespread outbreaks safeguards crop productivity.</a:t>
            </a:r>
            <a:endParaRPr lang="en-US" sz="1710" dirty="0"/>
          </a:p>
        </p:txBody>
      </p:sp>
      <p:sp>
        <p:nvSpPr>
          <p:cNvPr id="11" name="Shape 7"/>
          <p:cNvSpPr/>
          <p:nvPr/>
        </p:nvSpPr>
        <p:spPr>
          <a:xfrm>
            <a:off x="10166985" y="3979188"/>
            <a:ext cx="488633" cy="488633"/>
          </a:xfrm>
          <a:prstGeom prst="roundRect">
            <a:avLst>
              <a:gd name="adj" fmla="val 18667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320218" y="4060627"/>
            <a:ext cx="182047" cy="32575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65"/>
              </a:lnSpc>
              <a:buNone/>
            </a:pPr>
            <a:r>
              <a:rPr lang="en-US" sz="2565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565" dirty="0"/>
          </a:p>
        </p:txBody>
      </p:sp>
      <p:sp>
        <p:nvSpPr>
          <p:cNvPr id="13" name="Text 9"/>
          <p:cNvSpPr/>
          <p:nvPr/>
        </p:nvSpPr>
        <p:spPr>
          <a:xfrm>
            <a:off x="10872788" y="3979188"/>
            <a:ext cx="2908935" cy="3393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72"/>
              </a:lnSpc>
              <a:buNone/>
            </a:pPr>
            <a:r>
              <a:rPr lang="en-US" sz="2138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Economic Sustainability</a:t>
            </a:r>
            <a:endParaRPr lang="en-US" sz="2138" dirty="0"/>
          </a:p>
        </p:txBody>
      </p:sp>
      <p:sp>
        <p:nvSpPr>
          <p:cNvPr id="14" name="Text 10"/>
          <p:cNvSpPr/>
          <p:nvPr/>
        </p:nvSpPr>
        <p:spPr>
          <a:xfrm>
            <a:off x="10872788" y="4448770"/>
            <a:ext cx="2997518" cy="10422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6"/>
              </a:lnSpc>
              <a:buNone/>
            </a:pPr>
            <a:r>
              <a:rPr lang="en-US" sz="171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Minimizing losses ensures profitability for farmers and the agricultural industry.</a:t>
            </a:r>
            <a:endParaRPr lang="en-US" sz="1710" dirty="0"/>
          </a:p>
        </p:txBody>
      </p:sp>
      <p:sp>
        <p:nvSpPr>
          <p:cNvPr id="15" name="Shape 11"/>
          <p:cNvSpPr/>
          <p:nvPr/>
        </p:nvSpPr>
        <p:spPr>
          <a:xfrm>
            <a:off x="6246495" y="5952530"/>
            <a:ext cx="488633" cy="488633"/>
          </a:xfrm>
          <a:prstGeom prst="roundRect">
            <a:avLst>
              <a:gd name="adj" fmla="val 18667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919" y="6033968"/>
            <a:ext cx="179784" cy="32575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65"/>
              </a:lnSpc>
              <a:buNone/>
            </a:pPr>
            <a:r>
              <a:rPr lang="en-US" sz="2565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565" dirty="0"/>
          </a:p>
        </p:txBody>
      </p:sp>
      <p:sp>
        <p:nvSpPr>
          <p:cNvPr id="17" name="Text 13"/>
          <p:cNvSpPr/>
          <p:nvPr/>
        </p:nvSpPr>
        <p:spPr>
          <a:xfrm>
            <a:off x="6952298" y="5952530"/>
            <a:ext cx="2714625" cy="3393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72"/>
              </a:lnSpc>
              <a:buNone/>
            </a:pPr>
            <a:r>
              <a:rPr lang="en-US" sz="2138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Food Security</a:t>
            </a:r>
            <a:endParaRPr lang="en-US" sz="2138" dirty="0"/>
          </a:p>
        </p:txBody>
      </p:sp>
      <p:sp>
        <p:nvSpPr>
          <p:cNvPr id="18" name="Text 14"/>
          <p:cNvSpPr/>
          <p:nvPr/>
        </p:nvSpPr>
        <p:spPr>
          <a:xfrm>
            <a:off x="6952298" y="6422112"/>
            <a:ext cx="2997518" cy="10422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6"/>
              </a:lnSpc>
              <a:buNone/>
            </a:pPr>
            <a:r>
              <a:rPr lang="en-US" sz="171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Healthy crops contribute to a stable food supply for populations worldwide.</a:t>
            </a:r>
            <a:endParaRPr lang="en-US" sz="1710" dirty="0"/>
          </a:p>
        </p:txBody>
      </p:sp>
      <p:sp>
        <p:nvSpPr>
          <p:cNvPr id="19" name="Shape 15"/>
          <p:cNvSpPr/>
          <p:nvPr/>
        </p:nvSpPr>
        <p:spPr>
          <a:xfrm>
            <a:off x="10166985" y="5952530"/>
            <a:ext cx="488633" cy="488633"/>
          </a:xfrm>
          <a:prstGeom prst="roundRect">
            <a:avLst>
              <a:gd name="adj" fmla="val 18667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319266" y="6033968"/>
            <a:ext cx="184071" cy="32575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65"/>
              </a:lnSpc>
              <a:buNone/>
            </a:pPr>
            <a:r>
              <a:rPr lang="en-US" sz="2565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2565" dirty="0"/>
          </a:p>
        </p:txBody>
      </p:sp>
      <p:sp>
        <p:nvSpPr>
          <p:cNvPr id="21" name="Text 17"/>
          <p:cNvSpPr/>
          <p:nvPr/>
        </p:nvSpPr>
        <p:spPr>
          <a:xfrm>
            <a:off x="10872788" y="5952530"/>
            <a:ext cx="2727008" cy="3393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72"/>
              </a:lnSpc>
              <a:buNone/>
            </a:pPr>
            <a:r>
              <a:rPr lang="en-US" sz="2138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Environmental Impact</a:t>
            </a:r>
            <a:endParaRPr lang="en-US" sz="2138" dirty="0"/>
          </a:p>
        </p:txBody>
      </p:sp>
      <p:sp>
        <p:nvSpPr>
          <p:cNvPr id="22" name="Text 18"/>
          <p:cNvSpPr/>
          <p:nvPr/>
        </p:nvSpPr>
        <p:spPr>
          <a:xfrm>
            <a:off x="10872788" y="6422112"/>
            <a:ext cx="2997518" cy="10422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6"/>
              </a:lnSpc>
              <a:buNone/>
            </a:pPr>
            <a:r>
              <a:rPr lang="en-US" sz="171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Sustainable farming practices minimize the use of pesticides and fertilizers.</a:t>
            </a:r>
            <a:endParaRPr lang="en-US" sz="17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811298"/>
            <a:ext cx="5701665" cy="70877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581"/>
              </a:lnSpc>
              <a:buNone/>
            </a:pPr>
            <a:r>
              <a:rPr lang="en-US" sz="4465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Idea/Approach Details</a:t>
            </a:r>
            <a:endParaRPr lang="en-US" sz="4465" dirty="0"/>
          </a:p>
        </p:txBody>
      </p:sp>
      <p:sp>
        <p:nvSpPr>
          <p:cNvPr id="5" name="Text 2"/>
          <p:cNvSpPr/>
          <p:nvPr/>
        </p:nvSpPr>
        <p:spPr>
          <a:xfrm>
            <a:off x="793790" y="2973705"/>
            <a:ext cx="13042821" cy="725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58"/>
              </a:lnSpc>
              <a:buNone/>
            </a:pPr>
            <a:r>
              <a:rPr lang="en-US" sz="1786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approach combines the power of CNNs with a user-friendly interface to provide farmers with a reliable tool for early disease detection.</a:t>
            </a:r>
            <a:endParaRPr lang="en-US" sz="1786" dirty="0"/>
          </a:p>
        </p:txBody>
      </p:sp>
      <p:sp>
        <p:nvSpPr>
          <p:cNvPr id="6" name="Text 3"/>
          <p:cNvSpPr/>
          <p:nvPr/>
        </p:nvSpPr>
        <p:spPr>
          <a:xfrm>
            <a:off x="793790" y="4181475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1"/>
              </a:lnSpc>
              <a:buNone/>
            </a:pPr>
            <a:r>
              <a:rPr lang="en-US" sz="2233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 Status</a:t>
            </a:r>
            <a:endParaRPr lang="en-US" sz="2233" dirty="0"/>
          </a:p>
        </p:txBody>
      </p:sp>
      <p:sp>
        <p:nvSpPr>
          <p:cNvPr id="7" name="Text 4"/>
          <p:cNvSpPr/>
          <p:nvPr/>
        </p:nvSpPr>
        <p:spPr>
          <a:xfrm>
            <a:off x="793790" y="4762619"/>
            <a:ext cx="3978116" cy="1451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58"/>
              </a:lnSpc>
              <a:buNone/>
            </a:pPr>
            <a:r>
              <a:rPr lang="en-US" sz="1786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is currently in the development phase, with a focus on robust model training and comprehensive data collection.</a:t>
            </a:r>
            <a:endParaRPr lang="en-US" sz="1786" dirty="0"/>
          </a:p>
        </p:txBody>
      </p:sp>
      <p:sp>
        <p:nvSpPr>
          <p:cNvPr id="8" name="Text 5"/>
          <p:cNvSpPr/>
          <p:nvPr/>
        </p:nvSpPr>
        <p:spPr>
          <a:xfrm>
            <a:off x="5332928" y="4181475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1"/>
              </a:lnSpc>
              <a:buNone/>
            </a:pPr>
            <a:r>
              <a:rPr lang="en-US" sz="2233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Technology Stack</a:t>
            </a:r>
            <a:endParaRPr lang="en-US" sz="2233" dirty="0"/>
          </a:p>
        </p:txBody>
      </p:sp>
      <p:sp>
        <p:nvSpPr>
          <p:cNvPr id="9" name="Text 6"/>
          <p:cNvSpPr/>
          <p:nvPr/>
        </p:nvSpPr>
        <p:spPr>
          <a:xfrm>
            <a:off x="5332928" y="4762619"/>
            <a:ext cx="3978116" cy="1451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58"/>
              </a:lnSpc>
              <a:buNone/>
            </a:pPr>
            <a:r>
              <a:rPr lang="en-US" sz="1786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leverage Python, TensorFlow, and Keras for model development, along with cloud-based services for data storage and deployment.</a:t>
            </a:r>
            <a:endParaRPr lang="en-US" sz="1786" dirty="0"/>
          </a:p>
        </p:txBody>
      </p:sp>
      <p:sp>
        <p:nvSpPr>
          <p:cNvPr id="10" name="Text 7"/>
          <p:cNvSpPr/>
          <p:nvPr/>
        </p:nvSpPr>
        <p:spPr>
          <a:xfrm>
            <a:off x="9872067" y="4181475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1"/>
              </a:lnSpc>
              <a:buNone/>
            </a:pPr>
            <a:r>
              <a:rPr lang="en-US" sz="2233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Architecture</a:t>
            </a:r>
            <a:endParaRPr lang="en-US" sz="2233" dirty="0"/>
          </a:p>
        </p:txBody>
      </p:sp>
      <p:sp>
        <p:nvSpPr>
          <p:cNvPr id="11" name="Text 8"/>
          <p:cNvSpPr/>
          <p:nvPr/>
        </p:nvSpPr>
        <p:spPr>
          <a:xfrm>
            <a:off x="9872067" y="4762619"/>
            <a:ext cx="3978116" cy="1451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58"/>
              </a:lnSpc>
              <a:buNone/>
            </a:pPr>
            <a:r>
              <a:rPr lang="en-US" sz="1786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comprises a data acquisition module, a CNN model, and a user-friendly interface for displaying predictions.</a:t>
            </a:r>
            <a:endParaRPr lang="en-US" sz="178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31029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14" y="831422"/>
            <a:ext cx="5486400" cy="24618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39828" y="591979"/>
            <a:ext cx="7637145" cy="1345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297"/>
              </a:lnSpc>
              <a:buNone/>
            </a:pPr>
            <a:r>
              <a:rPr lang="en-US" sz="4238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Overview of Convolutional Neural Networks (CNNs)</a:t>
            </a:r>
            <a:endParaRPr lang="en-US" sz="4238" dirty="0"/>
          </a:p>
        </p:txBody>
      </p:sp>
      <p:sp>
        <p:nvSpPr>
          <p:cNvPr id="6" name="Text 2"/>
          <p:cNvSpPr/>
          <p:nvPr/>
        </p:nvSpPr>
        <p:spPr>
          <a:xfrm>
            <a:off x="6239828" y="2260283"/>
            <a:ext cx="7637145" cy="1032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12"/>
              </a:lnSpc>
              <a:buNone/>
            </a:pPr>
            <a:r>
              <a:rPr lang="en-US" sz="1695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CNNs are a type of artificial neural network designed for image recognition. They excel at capturing spatial patterns and features within images, making them ideal for analyzing plant diseases.</a:t>
            </a:r>
            <a:endParaRPr lang="en-US" sz="1695" dirty="0"/>
          </a:p>
        </p:txBody>
      </p:sp>
      <p:sp>
        <p:nvSpPr>
          <p:cNvPr id="7" name="Shape 3"/>
          <p:cNvSpPr/>
          <p:nvPr/>
        </p:nvSpPr>
        <p:spPr>
          <a:xfrm>
            <a:off x="6239828" y="3535442"/>
            <a:ext cx="3710940" cy="2288500"/>
          </a:xfrm>
          <a:prstGeom prst="roundRect">
            <a:avLst>
              <a:gd name="adj" fmla="val 395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62713" y="3758327"/>
            <a:ext cx="2690812" cy="3363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48"/>
              </a:lnSpc>
              <a:buNone/>
            </a:pPr>
            <a:r>
              <a:rPr lang="en-US" sz="2119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Convolutional Layers</a:t>
            </a:r>
            <a:endParaRPr lang="en-US" sz="2119" dirty="0"/>
          </a:p>
        </p:txBody>
      </p:sp>
      <p:sp>
        <p:nvSpPr>
          <p:cNvPr id="9" name="Text 5"/>
          <p:cNvSpPr/>
          <p:nvPr/>
        </p:nvSpPr>
        <p:spPr>
          <a:xfrm>
            <a:off x="6462713" y="4223742"/>
            <a:ext cx="3265170" cy="13773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12"/>
              </a:lnSpc>
              <a:buNone/>
            </a:pPr>
            <a:r>
              <a:rPr lang="en-US" sz="1695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These layers extract features by sliding filters over the image, identifying patterns like edges and textures.</a:t>
            </a:r>
            <a:endParaRPr lang="en-US" sz="1695" dirty="0"/>
          </a:p>
        </p:txBody>
      </p:sp>
      <p:sp>
        <p:nvSpPr>
          <p:cNvPr id="10" name="Shape 6"/>
          <p:cNvSpPr/>
          <p:nvPr/>
        </p:nvSpPr>
        <p:spPr>
          <a:xfrm>
            <a:off x="10166033" y="3535442"/>
            <a:ext cx="3710940" cy="2288500"/>
          </a:xfrm>
          <a:prstGeom prst="roundRect">
            <a:avLst>
              <a:gd name="adj" fmla="val 395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388918" y="3758327"/>
            <a:ext cx="2690812" cy="3363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48"/>
              </a:lnSpc>
              <a:buNone/>
            </a:pPr>
            <a:r>
              <a:rPr lang="en-US" sz="2119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Pooling Layers</a:t>
            </a:r>
            <a:endParaRPr lang="en-US" sz="2119" dirty="0"/>
          </a:p>
        </p:txBody>
      </p:sp>
      <p:sp>
        <p:nvSpPr>
          <p:cNvPr id="12" name="Text 8"/>
          <p:cNvSpPr/>
          <p:nvPr/>
        </p:nvSpPr>
        <p:spPr>
          <a:xfrm>
            <a:off x="10388918" y="4223742"/>
            <a:ext cx="3265170" cy="13773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12"/>
              </a:lnSpc>
              <a:buNone/>
            </a:pPr>
            <a:r>
              <a:rPr lang="en-US" sz="1695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They downsample the feature maps, reducing computational complexity and extracting the most important features.</a:t>
            </a:r>
            <a:endParaRPr lang="en-US" sz="1695" dirty="0"/>
          </a:p>
        </p:txBody>
      </p:sp>
      <p:sp>
        <p:nvSpPr>
          <p:cNvPr id="13" name="Shape 9"/>
          <p:cNvSpPr/>
          <p:nvPr/>
        </p:nvSpPr>
        <p:spPr>
          <a:xfrm>
            <a:off x="6239828" y="6039207"/>
            <a:ext cx="7637145" cy="1599843"/>
          </a:xfrm>
          <a:prstGeom prst="roundRect">
            <a:avLst>
              <a:gd name="adj" fmla="val 565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62713" y="6262092"/>
            <a:ext cx="2783562" cy="3363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48"/>
              </a:lnSpc>
              <a:buNone/>
            </a:pPr>
            <a:r>
              <a:rPr lang="en-US" sz="2119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Fully Connected Layers</a:t>
            </a:r>
            <a:endParaRPr lang="en-US" sz="2119" dirty="0"/>
          </a:p>
        </p:txBody>
      </p:sp>
      <p:sp>
        <p:nvSpPr>
          <p:cNvPr id="15" name="Text 11"/>
          <p:cNvSpPr/>
          <p:nvPr/>
        </p:nvSpPr>
        <p:spPr>
          <a:xfrm>
            <a:off x="6462713" y="6727508"/>
            <a:ext cx="7191375" cy="6886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12"/>
              </a:lnSpc>
              <a:buNone/>
            </a:pPr>
            <a:r>
              <a:rPr lang="en-US" sz="1695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These layers combine features learned in previous layers to classify the image as diseased or healthy.</a:t>
            </a:r>
            <a:endParaRPr lang="en-US" sz="1695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46" y="3926502"/>
            <a:ext cx="5803936" cy="38006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160" y="793820"/>
            <a:ext cx="5486400" cy="6631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5678" y="973693"/>
            <a:ext cx="7212806" cy="5943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3744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Collection and Preprocessing</a:t>
            </a:r>
            <a:endParaRPr lang="en-US" sz="3744" dirty="0"/>
          </a:p>
        </p:txBody>
      </p:sp>
      <p:sp>
        <p:nvSpPr>
          <p:cNvPr id="6" name="Text 2"/>
          <p:cNvSpPr/>
          <p:nvPr/>
        </p:nvSpPr>
        <p:spPr>
          <a:xfrm>
            <a:off x="665678" y="1853327"/>
            <a:ext cx="7812643" cy="608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396"/>
              </a:lnSpc>
              <a:buNone/>
            </a:pPr>
            <a:r>
              <a:rPr lang="en-US" sz="1498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High-quality data is essential for training a robust CNN model. We collect a comprehensive dataset of plant images with various diseases and healthy controls.</a:t>
            </a:r>
            <a:endParaRPr lang="en-US" sz="1498" dirty="0"/>
          </a:p>
        </p:txBody>
      </p:sp>
      <p:sp>
        <p:nvSpPr>
          <p:cNvPr id="7" name="Shape 3"/>
          <p:cNvSpPr/>
          <p:nvPr/>
        </p:nvSpPr>
        <p:spPr>
          <a:xfrm>
            <a:off x="939522" y="2675692"/>
            <a:ext cx="22860" cy="4580096"/>
          </a:xfrm>
          <a:prstGeom prst="roundRect">
            <a:avLst>
              <a:gd name="adj" fmla="val 349444"/>
            </a:avLst>
          </a:prstGeom>
          <a:solidFill>
            <a:srgbClr val="CECEC9"/>
          </a:solidFill>
          <a:ln/>
        </p:spPr>
      </p:sp>
      <p:sp>
        <p:nvSpPr>
          <p:cNvPr id="8" name="Shape 4"/>
          <p:cNvSpPr/>
          <p:nvPr/>
        </p:nvSpPr>
        <p:spPr>
          <a:xfrm>
            <a:off x="1142048" y="3092172"/>
            <a:ext cx="665678" cy="22860"/>
          </a:xfrm>
          <a:prstGeom prst="roundRect">
            <a:avLst>
              <a:gd name="adj" fmla="val 349444"/>
            </a:avLst>
          </a:prstGeom>
          <a:solidFill>
            <a:srgbClr val="CECEC9"/>
          </a:solidFill>
          <a:ln/>
        </p:spPr>
      </p:sp>
      <p:sp>
        <p:nvSpPr>
          <p:cNvPr id="9" name="Shape 5"/>
          <p:cNvSpPr/>
          <p:nvPr/>
        </p:nvSpPr>
        <p:spPr>
          <a:xfrm>
            <a:off x="736997" y="2889647"/>
            <a:ext cx="427911" cy="427911"/>
          </a:xfrm>
          <a:prstGeom prst="roundRect">
            <a:avLst>
              <a:gd name="adj" fmla="val 18668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89635" y="2960965"/>
            <a:ext cx="122634" cy="28527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46"/>
              </a:lnSpc>
              <a:buNone/>
            </a:pPr>
            <a:r>
              <a:rPr lang="en-US" sz="2246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246" dirty="0"/>
          </a:p>
        </p:txBody>
      </p:sp>
      <p:sp>
        <p:nvSpPr>
          <p:cNvPr id="11" name="Text 7"/>
          <p:cNvSpPr/>
          <p:nvPr/>
        </p:nvSpPr>
        <p:spPr>
          <a:xfrm>
            <a:off x="1997035" y="2865834"/>
            <a:ext cx="2377440" cy="2971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72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Image Acquisition</a:t>
            </a:r>
            <a:endParaRPr lang="en-US" sz="1872" dirty="0"/>
          </a:p>
        </p:txBody>
      </p:sp>
      <p:sp>
        <p:nvSpPr>
          <p:cNvPr id="12" name="Text 8"/>
          <p:cNvSpPr/>
          <p:nvPr/>
        </p:nvSpPr>
        <p:spPr>
          <a:xfrm>
            <a:off x="1997035" y="3277076"/>
            <a:ext cx="6481286" cy="608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396"/>
              </a:lnSpc>
              <a:buNone/>
            </a:pPr>
            <a:r>
              <a:rPr lang="en-US" sz="1498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collect images from various sources, including public databases, field surveys, and user contributions.</a:t>
            </a:r>
            <a:endParaRPr lang="en-US" sz="1498" dirty="0"/>
          </a:p>
        </p:txBody>
      </p:sp>
      <p:sp>
        <p:nvSpPr>
          <p:cNvPr id="13" name="Shape 9"/>
          <p:cNvSpPr/>
          <p:nvPr/>
        </p:nvSpPr>
        <p:spPr>
          <a:xfrm>
            <a:off x="1142048" y="4682252"/>
            <a:ext cx="665678" cy="22860"/>
          </a:xfrm>
          <a:prstGeom prst="roundRect">
            <a:avLst>
              <a:gd name="adj" fmla="val 349444"/>
            </a:avLst>
          </a:prstGeom>
          <a:solidFill>
            <a:srgbClr val="CECEC9"/>
          </a:solidFill>
          <a:ln/>
        </p:spPr>
      </p:sp>
      <p:sp>
        <p:nvSpPr>
          <p:cNvPr id="14" name="Shape 10"/>
          <p:cNvSpPr/>
          <p:nvPr/>
        </p:nvSpPr>
        <p:spPr>
          <a:xfrm>
            <a:off x="736997" y="4479727"/>
            <a:ext cx="427911" cy="427911"/>
          </a:xfrm>
          <a:prstGeom prst="roundRect">
            <a:avLst>
              <a:gd name="adj" fmla="val 18668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71180" y="4551045"/>
            <a:ext cx="159425" cy="28527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46"/>
              </a:lnSpc>
              <a:buNone/>
            </a:pPr>
            <a:r>
              <a:rPr lang="en-US" sz="2246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246" dirty="0"/>
          </a:p>
        </p:txBody>
      </p:sp>
      <p:sp>
        <p:nvSpPr>
          <p:cNvPr id="16" name="Text 12"/>
          <p:cNvSpPr/>
          <p:nvPr/>
        </p:nvSpPr>
        <p:spPr>
          <a:xfrm>
            <a:off x="1997035" y="4455914"/>
            <a:ext cx="2377440" cy="2971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72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Labeling</a:t>
            </a:r>
            <a:endParaRPr lang="en-US" sz="1872" dirty="0"/>
          </a:p>
        </p:txBody>
      </p:sp>
      <p:sp>
        <p:nvSpPr>
          <p:cNvPr id="17" name="Text 13"/>
          <p:cNvSpPr/>
          <p:nvPr/>
        </p:nvSpPr>
        <p:spPr>
          <a:xfrm>
            <a:off x="1997035" y="4867156"/>
            <a:ext cx="6481286" cy="608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396"/>
              </a:lnSpc>
              <a:buNone/>
            </a:pPr>
            <a:r>
              <a:rPr lang="en-US" sz="1498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image is meticulously labeled with the corresponding disease or healthy status, ensuring accurate model training.</a:t>
            </a:r>
            <a:endParaRPr lang="en-US" sz="1498" dirty="0"/>
          </a:p>
        </p:txBody>
      </p:sp>
      <p:sp>
        <p:nvSpPr>
          <p:cNvPr id="18" name="Shape 14"/>
          <p:cNvSpPr/>
          <p:nvPr/>
        </p:nvSpPr>
        <p:spPr>
          <a:xfrm>
            <a:off x="1142048" y="6272332"/>
            <a:ext cx="665678" cy="22860"/>
          </a:xfrm>
          <a:prstGeom prst="roundRect">
            <a:avLst>
              <a:gd name="adj" fmla="val 349444"/>
            </a:avLst>
          </a:prstGeom>
          <a:solidFill>
            <a:srgbClr val="CECEC9"/>
          </a:solidFill>
          <a:ln/>
        </p:spPr>
      </p:sp>
      <p:sp>
        <p:nvSpPr>
          <p:cNvPr id="19" name="Shape 15"/>
          <p:cNvSpPr/>
          <p:nvPr/>
        </p:nvSpPr>
        <p:spPr>
          <a:xfrm>
            <a:off x="736997" y="6069806"/>
            <a:ext cx="427911" cy="427911"/>
          </a:xfrm>
          <a:prstGeom prst="roundRect">
            <a:avLst>
              <a:gd name="adj" fmla="val 18668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72133" y="6141125"/>
            <a:ext cx="157520" cy="28527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46"/>
              </a:lnSpc>
              <a:buNone/>
            </a:pPr>
            <a:r>
              <a:rPr lang="en-US" sz="2246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246" dirty="0"/>
          </a:p>
        </p:txBody>
      </p:sp>
      <p:sp>
        <p:nvSpPr>
          <p:cNvPr id="21" name="Text 17"/>
          <p:cNvSpPr/>
          <p:nvPr/>
        </p:nvSpPr>
        <p:spPr>
          <a:xfrm>
            <a:off x="1997035" y="6045994"/>
            <a:ext cx="2377440" cy="2971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72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Preprocessing</a:t>
            </a:r>
            <a:endParaRPr lang="en-US" sz="1872" dirty="0"/>
          </a:p>
        </p:txBody>
      </p:sp>
      <p:sp>
        <p:nvSpPr>
          <p:cNvPr id="22" name="Text 18"/>
          <p:cNvSpPr/>
          <p:nvPr/>
        </p:nvSpPr>
        <p:spPr>
          <a:xfrm>
            <a:off x="1997035" y="6457236"/>
            <a:ext cx="6481286" cy="608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396"/>
              </a:lnSpc>
              <a:buNone/>
            </a:pPr>
            <a:r>
              <a:rPr lang="en-US" sz="1498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images are resized, normalized, and augmented to improve model performance and prevent overfitting.</a:t>
            </a:r>
            <a:endParaRPr lang="en-US" sz="149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919" y="1005602"/>
            <a:ext cx="5496878" cy="6123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822"/>
              </a:lnSpc>
              <a:buNone/>
            </a:pPr>
            <a:r>
              <a:rPr lang="en-US" sz="3858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CNN Architecture Design</a:t>
            </a:r>
            <a:endParaRPr lang="en-US" sz="3858" dirty="0"/>
          </a:p>
        </p:txBody>
      </p:sp>
      <p:sp>
        <p:nvSpPr>
          <p:cNvPr id="6" name="Text 2"/>
          <p:cNvSpPr/>
          <p:nvPr/>
        </p:nvSpPr>
        <p:spPr>
          <a:xfrm>
            <a:off x="685919" y="1911906"/>
            <a:ext cx="7772162" cy="6269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69"/>
              </a:lnSpc>
              <a:buNone/>
            </a:pPr>
            <a:r>
              <a:rPr lang="en-US" sz="154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architecture of the CNN model is crucial for its accuracy and performance. We carefully design the network to optimize feature extraction and classification.</a:t>
            </a:r>
            <a:endParaRPr lang="en-US" sz="1543" dirty="0"/>
          </a:p>
        </p:txBody>
      </p:sp>
      <p:sp>
        <p:nvSpPr>
          <p:cNvPr id="7" name="Shape 3"/>
          <p:cNvSpPr/>
          <p:nvPr/>
        </p:nvSpPr>
        <p:spPr>
          <a:xfrm>
            <a:off x="685919" y="2759273"/>
            <a:ext cx="7772162" cy="4464725"/>
          </a:xfrm>
          <a:prstGeom prst="roundRect">
            <a:avLst>
              <a:gd name="adj" fmla="val 184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93539" y="2766893"/>
            <a:ext cx="7756088" cy="5637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890349" y="2892028"/>
            <a:ext cx="2189321" cy="3134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69"/>
              </a:lnSpc>
              <a:buNone/>
            </a:pPr>
            <a:r>
              <a:rPr lang="en-US" sz="154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Type</a:t>
            </a:r>
            <a:endParaRPr lang="en-US" sz="1543" dirty="0"/>
          </a:p>
        </p:txBody>
      </p:sp>
      <p:sp>
        <p:nvSpPr>
          <p:cNvPr id="10" name="Text 6"/>
          <p:cNvSpPr/>
          <p:nvPr/>
        </p:nvSpPr>
        <p:spPr>
          <a:xfrm>
            <a:off x="3479244" y="2892028"/>
            <a:ext cx="2185511" cy="3134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69"/>
              </a:lnSpc>
              <a:buNone/>
            </a:pPr>
            <a:r>
              <a:rPr lang="en-US" sz="154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Description</a:t>
            </a:r>
            <a:endParaRPr lang="en-US" sz="1543" dirty="0"/>
          </a:p>
        </p:txBody>
      </p:sp>
      <p:sp>
        <p:nvSpPr>
          <p:cNvPr id="11" name="Text 7"/>
          <p:cNvSpPr/>
          <p:nvPr/>
        </p:nvSpPr>
        <p:spPr>
          <a:xfrm>
            <a:off x="6064329" y="2892028"/>
            <a:ext cx="2189321" cy="3134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69"/>
              </a:lnSpc>
              <a:buNone/>
            </a:pPr>
            <a:r>
              <a:rPr lang="en-US" sz="154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Purpose</a:t>
            </a:r>
            <a:endParaRPr lang="en-US" sz="1543" dirty="0"/>
          </a:p>
        </p:txBody>
      </p:sp>
      <p:sp>
        <p:nvSpPr>
          <p:cNvPr id="12" name="Shape 8"/>
          <p:cNvSpPr/>
          <p:nvPr/>
        </p:nvSpPr>
        <p:spPr>
          <a:xfrm>
            <a:off x="693539" y="3330654"/>
            <a:ext cx="7756088" cy="11907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890349" y="3455789"/>
            <a:ext cx="2189321" cy="3134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69"/>
              </a:lnSpc>
              <a:buNone/>
            </a:pPr>
            <a:r>
              <a:rPr lang="en-US" sz="154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Convolutional</a:t>
            </a:r>
            <a:endParaRPr lang="en-US" sz="1543" dirty="0"/>
          </a:p>
        </p:txBody>
      </p:sp>
      <p:sp>
        <p:nvSpPr>
          <p:cNvPr id="14" name="Text 10"/>
          <p:cNvSpPr/>
          <p:nvPr/>
        </p:nvSpPr>
        <p:spPr>
          <a:xfrm>
            <a:off x="3479244" y="3455789"/>
            <a:ext cx="2185511" cy="9404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69"/>
              </a:lnSpc>
              <a:buNone/>
            </a:pPr>
            <a:r>
              <a:rPr lang="en-US" sz="154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Extract features like edges, textures, and shapes from the image.</a:t>
            </a:r>
            <a:endParaRPr lang="en-US" sz="1543" dirty="0"/>
          </a:p>
        </p:txBody>
      </p:sp>
      <p:sp>
        <p:nvSpPr>
          <p:cNvPr id="15" name="Text 11"/>
          <p:cNvSpPr/>
          <p:nvPr/>
        </p:nvSpPr>
        <p:spPr>
          <a:xfrm>
            <a:off x="6064329" y="3455789"/>
            <a:ext cx="2189321" cy="6269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69"/>
              </a:lnSpc>
              <a:buNone/>
            </a:pPr>
            <a:r>
              <a:rPr lang="en-US" sz="154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Identify disease-specific patterns.</a:t>
            </a:r>
            <a:endParaRPr lang="en-US" sz="1543" dirty="0"/>
          </a:p>
        </p:txBody>
      </p:sp>
      <p:sp>
        <p:nvSpPr>
          <p:cNvPr id="16" name="Shape 12"/>
          <p:cNvSpPr/>
          <p:nvPr/>
        </p:nvSpPr>
        <p:spPr>
          <a:xfrm>
            <a:off x="693539" y="4521398"/>
            <a:ext cx="7756088" cy="15042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890349" y="4646533"/>
            <a:ext cx="2189321" cy="3134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69"/>
              </a:lnSpc>
              <a:buNone/>
            </a:pPr>
            <a:r>
              <a:rPr lang="en-US" sz="154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Pooling</a:t>
            </a:r>
            <a:endParaRPr lang="en-US" sz="1543" dirty="0"/>
          </a:p>
        </p:txBody>
      </p:sp>
      <p:sp>
        <p:nvSpPr>
          <p:cNvPr id="18" name="Text 14"/>
          <p:cNvSpPr/>
          <p:nvPr/>
        </p:nvSpPr>
        <p:spPr>
          <a:xfrm>
            <a:off x="3479244" y="4646533"/>
            <a:ext cx="2185511" cy="12539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69"/>
              </a:lnSpc>
              <a:buNone/>
            </a:pPr>
            <a:r>
              <a:rPr lang="en-US" sz="154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Downsample the feature maps, reducing computational complexity.</a:t>
            </a:r>
            <a:endParaRPr lang="en-US" sz="1543" dirty="0"/>
          </a:p>
        </p:txBody>
      </p:sp>
      <p:sp>
        <p:nvSpPr>
          <p:cNvPr id="19" name="Text 15"/>
          <p:cNvSpPr/>
          <p:nvPr/>
        </p:nvSpPr>
        <p:spPr>
          <a:xfrm>
            <a:off x="6064329" y="4646533"/>
            <a:ext cx="2189321" cy="6269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69"/>
              </a:lnSpc>
              <a:buNone/>
            </a:pPr>
            <a:r>
              <a:rPr lang="en-US" sz="154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Improve robustness and reduce overfitting.</a:t>
            </a:r>
            <a:endParaRPr lang="en-US" sz="1543" dirty="0"/>
          </a:p>
        </p:txBody>
      </p:sp>
      <p:sp>
        <p:nvSpPr>
          <p:cNvPr id="20" name="Shape 16"/>
          <p:cNvSpPr/>
          <p:nvPr/>
        </p:nvSpPr>
        <p:spPr>
          <a:xfrm>
            <a:off x="693539" y="6025634"/>
            <a:ext cx="7756088" cy="11907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890349" y="6150769"/>
            <a:ext cx="2189321" cy="3134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69"/>
              </a:lnSpc>
              <a:buNone/>
            </a:pPr>
            <a:r>
              <a:rPr lang="en-US" sz="154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Fully Connected</a:t>
            </a:r>
            <a:endParaRPr lang="en-US" sz="1543" dirty="0"/>
          </a:p>
        </p:txBody>
      </p:sp>
      <p:sp>
        <p:nvSpPr>
          <p:cNvPr id="22" name="Text 18"/>
          <p:cNvSpPr/>
          <p:nvPr/>
        </p:nvSpPr>
        <p:spPr>
          <a:xfrm>
            <a:off x="3479244" y="6150769"/>
            <a:ext cx="2185511" cy="9404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69"/>
              </a:lnSpc>
              <a:buNone/>
            </a:pPr>
            <a:r>
              <a:rPr lang="en-US" sz="154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Combine learned features for classification.</a:t>
            </a:r>
            <a:endParaRPr lang="en-US" sz="1543" dirty="0"/>
          </a:p>
        </p:txBody>
      </p:sp>
      <p:sp>
        <p:nvSpPr>
          <p:cNvPr id="23" name="Text 19"/>
          <p:cNvSpPr/>
          <p:nvPr/>
        </p:nvSpPr>
        <p:spPr>
          <a:xfrm>
            <a:off x="6064329" y="6150769"/>
            <a:ext cx="2189321" cy="6269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69"/>
              </a:lnSpc>
              <a:buNone/>
            </a:pPr>
            <a:r>
              <a:rPr lang="en-US" sz="154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Predict the disease status of the plant.</a:t>
            </a:r>
            <a:endParaRPr lang="en-US" sz="154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679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2468" y="854988"/>
            <a:ext cx="6730127" cy="6182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869"/>
              </a:lnSpc>
              <a:buNone/>
            </a:pPr>
            <a:r>
              <a:rPr lang="en-US" sz="3895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 Training and Validation</a:t>
            </a:r>
            <a:endParaRPr lang="en-US" sz="3895" dirty="0"/>
          </a:p>
        </p:txBody>
      </p:sp>
      <p:sp>
        <p:nvSpPr>
          <p:cNvPr id="6" name="Text 2"/>
          <p:cNvSpPr/>
          <p:nvPr/>
        </p:nvSpPr>
        <p:spPr>
          <a:xfrm>
            <a:off x="692468" y="1769983"/>
            <a:ext cx="7759065" cy="633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93"/>
              </a:lnSpc>
              <a:buNone/>
            </a:pPr>
            <a:r>
              <a:rPr lang="en-US" sz="1558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CNN model is trained using the collected dataset, iteratively adjusting its parameters to minimize errors and achieve high accuracy.</a:t>
            </a:r>
            <a:endParaRPr lang="en-US" sz="1558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68" y="2625685"/>
            <a:ext cx="989290" cy="158293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78462" y="2823448"/>
            <a:ext cx="2473404" cy="3090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35"/>
              </a:lnSpc>
              <a:buNone/>
            </a:pPr>
            <a:r>
              <a:rPr lang="en-US" sz="1948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Training Data</a:t>
            </a:r>
            <a:endParaRPr lang="en-US" sz="1948" dirty="0"/>
          </a:p>
        </p:txBody>
      </p:sp>
      <p:sp>
        <p:nvSpPr>
          <p:cNvPr id="9" name="Text 4"/>
          <p:cNvSpPr/>
          <p:nvPr/>
        </p:nvSpPr>
        <p:spPr>
          <a:xfrm>
            <a:off x="1978462" y="3251240"/>
            <a:ext cx="6473071" cy="633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93"/>
              </a:lnSpc>
              <a:buNone/>
            </a:pPr>
            <a:r>
              <a:rPr lang="en-US" sz="1558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learns from the labeled images, optimizing its ability to identify diseased plants.</a:t>
            </a:r>
            <a:endParaRPr lang="en-US" sz="1558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468" y="4208621"/>
            <a:ext cx="989290" cy="158293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78462" y="4406384"/>
            <a:ext cx="2473404" cy="3090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35"/>
              </a:lnSpc>
              <a:buNone/>
            </a:pPr>
            <a:r>
              <a:rPr lang="en-US" sz="1948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Validation Data</a:t>
            </a:r>
            <a:endParaRPr lang="en-US" sz="1948" dirty="0"/>
          </a:p>
        </p:txBody>
      </p:sp>
      <p:sp>
        <p:nvSpPr>
          <p:cNvPr id="12" name="Text 6"/>
          <p:cNvSpPr/>
          <p:nvPr/>
        </p:nvSpPr>
        <p:spPr>
          <a:xfrm>
            <a:off x="1978462" y="4834176"/>
            <a:ext cx="6473071" cy="633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93"/>
              </a:lnSpc>
              <a:buNone/>
            </a:pPr>
            <a:r>
              <a:rPr lang="en-US" sz="1558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model's performance is evaluated on a separate set of images to assess its generalization ability.</a:t>
            </a:r>
            <a:endParaRPr lang="en-US" sz="1558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468" y="5791557"/>
            <a:ext cx="989290" cy="158293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78462" y="5989320"/>
            <a:ext cx="2666286" cy="3090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35"/>
              </a:lnSpc>
              <a:buNone/>
            </a:pPr>
            <a:r>
              <a:rPr lang="en-US" sz="1948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Hyperparameter Tuning</a:t>
            </a:r>
            <a:endParaRPr lang="en-US" sz="1948" dirty="0"/>
          </a:p>
        </p:txBody>
      </p:sp>
      <p:sp>
        <p:nvSpPr>
          <p:cNvPr id="15" name="Text 8"/>
          <p:cNvSpPr/>
          <p:nvPr/>
        </p:nvSpPr>
        <p:spPr>
          <a:xfrm>
            <a:off x="1978462" y="6417112"/>
            <a:ext cx="6473071" cy="633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93"/>
              </a:lnSpc>
              <a:buNone/>
            </a:pPr>
            <a:r>
              <a:rPr lang="en-US" sz="1558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fine-tune the model's parameters, such as learning rate and network size, to achieve optimal performance.</a:t>
            </a:r>
            <a:endParaRPr lang="en-US" sz="155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46" y="0"/>
            <a:ext cx="13776290" cy="28352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3512463"/>
            <a:ext cx="9656326" cy="70877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581"/>
              </a:lnSpc>
              <a:buNone/>
            </a:pPr>
            <a:r>
              <a:rPr lang="en-US" sz="4465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Deployment and Real-Time Prediction</a:t>
            </a:r>
            <a:endParaRPr lang="en-US" sz="4465" dirty="0"/>
          </a:p>
        </p:txBody>
      </p:sp>
      <p:sp>
        <p:nvSpPr>
          <p:cNvPr id="6" name="Text 2"/>
          <p:cNvSpPr/>
          <p:nvPr/>
        </p:nvSpPr>
        <p:spPr>
          <a:xfrm>
            <a:off x="793790" y="4561403"/>
            <a:ext cx="13042821" cy="3629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858"/>
              </a:lnSpc>
              <a:buNone/>
            </a:pPr>
            <a:r>
              <a:rPr lang="en-US" sz="1786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Once trained, the CNN model is deployed on a platform that allows real-time prediction of plant diseases from user-uploaded images.</a:t>
            </a:r>
            <a:endParaRPr lang="en-US" sz="1786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179457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3790" y="5973247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91"/>
              </a:lnSpc>
              <a:buNone/>
            </a:pPr>
            <a:r>
              <a:rPr lang="en-US" sz="2233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Image Capture</a:t>
            </a:r>
            <a:endParaRPr lang="en-US" sz="2233" dirty="0"/>
          </a:p>
        </p:txBody>
      </p:sp>
      <p:sp>
        <p:nvSpPr>
          <p:cNvPr id="9" name="Text 4"/>
          <p:cNvSpPr/>
          <p:nvPr/>
        </p:nvSpPr>
        <p:spPr>
          <a:xfrm>
            <a:off x="793790" y="6463665"/>
            <a:ext cx="4120753" cy="108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858"/>
              </a:lnSpc>
              <a:buNone/>
            </a:pPr>
            <a:r>
              <a:rPr lang="en-US" sz="1786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Farmers can capture images of their plants using their smartphones or cameras.</a:t>
            </a:r>
            <a:endParaRPr lang="en-US" sz="1786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4704" y="5179457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54704" y="5973247"/>
            <a:ext cx="301311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91"/>
              </a:lnSpc>
              <a:buNone/>
            </a:pPr>
            <a:r>
              <a:rPr lang="en-US" sz="2233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Cloud-Based Processing</a:t>
            </a:r>
            <a:endParaRPr lang="en-US" sz="2233" dirty="0"/>
          </a:p>
        </p:txBody>
      </p:sp>
      <p:sp>
        <p:nvSpPr>
          <p:cNvPr id="12" name="Text 6"/>
          <p:cNvSpPr/>
          <p:nvPr/>
        </p:nvSpPr>
        <p:spPr>
          <a:xfrm>
            <a:off x="5254704" y="6463665"/>
            <a:ext cx="4120872" cy="108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858"/>
              </a:lnSpc>
              <a:buNone/>
            </a:pPr>
            <a:r>
              <a:rPr lang="en-US" sz="1786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images are uploaded to the cloud platform, where the trained CNN model performs the prediction.</a:t>
            </a:r>
            <a:endParaRPr lang="en-US" sz="1786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738" y="5179457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715738" y="5973247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91"/>
              </a:lnSpc>
              <a:buNone/>
            </a:pPr>
            <a:r>
              <a:rPr lang="en-US" sz="2233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Feedback</a:t>
            </a:r>
            <a:endParaRPr lang="en-US" sz="2233" dirty="0"/>
          </a:p>
        </p:txBody>
      </p:sp>
      <p:sp>
        <p:nvSpPr>
          <p:cNvPr id="15" name="Text 8"/>
          <p:cNvSpPr/>
          <p:nvPr/>
        </p:nvSpPr>
        <p:spPr>
          <a:xfrm>
            <a:off x="9715738" y="6463665"/>
            <a:ext cx="4120753" cy="108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858"/>
              </a:lnSpc>
              <a:buNone/>
            </a:pPr>
            <a:r>
              <a:rPr lang="en-US" sz="1786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provides immediate results, enabling farmers to take timely actions based on the prediction.</a:t>
            </a:r>
            <a:endParaRPr lang="en-US" sz="178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213" y="1142357"/>
            <a:ext cx="7663511" cy="67154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0" y="4712679"/>
            <a:ext cx="6672106" cy="31451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0" y="1137199"/>
            <a:ext cx="6672106" cy="30303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 flipH="1">
            <a:off x="132868" y="636046"/>
            <a:ext cx="288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u="sng" dirty="0" smtClean="0"/>
              <a:t>Interface:-</a:t>
            </a:r>
            <a:endParaRPr lang="en-IN" sz="2000" b="1" i="1" u="sng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59970" y="4215918"/>
            <a:ext cx="4280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u="sng" dirty="0" smtClean="0"/>
              <a:t>Model Testing on Sample Images:</a:t>
            </a:r>
            <a:endParaRPr lang="en-IN" sz="2000" b="1" i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6864213" y="561371"/>
            <a:ext cx="5766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u="sng" dirty="0" smtClean="0"/>
              <a:t>Graph of Training And Validation (Accuracy &amp; Loss):- </a:t>
            </a:r>
            <a:endParaRPr lang="en-IN" sz="2000" b="1" i="1"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59970" y="-46683"/>
            <a:ext cx="4019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Arial Rounded MT Bold" panose="020F0704030504030204" pitchFamily="34" charset="0"/>
              </a:rPr>
              <a:t>RESULT:-</a:t>
            </a:r>
            <a:endParaRPr lang="en-IN" sz="2400" b="1" u="sng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754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3" y="1341290"/>
            <a:ext cx="5486400" cy="59046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45066" y="597694"/>
            <a:ext cx="7626667" cy="13549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334"/>
              </a:lnSpc>
              <a:buNone/>
            </a:pPr>
            <a:r>
              <a:rPr lang="en-US" sz="4268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 and Future Directions</a:t>
            </a:r>
            <a:endParaRPr lang="en-US" sz="4268" dirty="0"/>
          </a:p>
        </p:txBody>
      </p:sp>
      <p:sp>
        <p:nvSpPr>
          <p:cNvPr id="6" name="Text 2"/>
          <p:cNvSpPr/>
          <p:nvPr/>
        </p:nvSpPr>
        <p:spPr>
          <a:xfrm>
            <a:off x="6245066" y="2277785"/>
            <a:ext cx="7626667" cy="10404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1"/>
              </a:lnSpc>
              <a:buNone/>
            </a:pPr>
            <a:r>
              <a:rPr lang="en-US" sz="1707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presentation highlights the potential of CNNs for accurate and efficient crop disease prediction. This technology empowers farmers to make informed decisions and promote sustainable agricultural practices.</a:t>
            </a:r>
            <a:endParaRPr lang="en-US" sz="1707" dirty="0"/>
          </a:p>
        </p:txBody>
      </p:sp>
      <p:sp>
        <p:nvSpPr>
          <p:cNvPr id="7" name="Shape 3"/>
          <p:cNvSpPr/>
          <p:nvPr/>
        </p:nvSpPr>
        <p:spPr>
          <a:xfrm>
            <a:off x="6245066" y="3805952"/>
            <a:ext cx="487680" cy="487680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19017" y="3887153"/>
            <a:ext cx="139779" cy="3251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61"/>
              </a:lnSpc>
              <a:buNone/>
            </a:pPr>
            <a:r>
              <a:rPr lang="en-US" sz="2561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561" dirty="0"/>
          </a:p>
        </p:txBody>
      </p:sp>
      <p:sp>
        <p:nvSpPr>
          <p:cNvPr id="9" name="Text 5"/>
          <p:cNvSpPr/>
          <p:nvPr/>
        </p:nvSpPr>
        <p:spPr>
          <a:xfrm>
            <a:off x="6949440" y="3805952"/>
            <a:ext cx="2709863" cy="3387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67"/>
              </a:lnSpc>
              <a:buNone/>
            </a:pPr>
            <a:r>
              <a:rPr lang="en-US" sz="2134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Improved Accuracy</a:t>
            </a:r>
            <a:endParaRPr lang="en-US" sz="2134" dirty="0"/>
          </a:p>
        </p:txBody>
      </p:sp>
      <p:sp>
        <p:nvSpPr>
          <p:cNvPr id="10" name="Text 6"/>
          <p:cNvSpPr/>
          <p:nvPr/>
        </p:nvSpPr>
        <p:spPr>
          <a:xfrm>
            <a:off x="6949440" y="4274701"/>
            <a:ext cx="3000613" cy="1387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1"/>
              </a:lnSpc>
              <a:buNone/>
            </a:pPr>
            <a:r>
              <a:rPr lang="en-US" sz="1707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will continue to improve the model's accuracy by collecting more data and refining the architecture.</a:t>
            </a:r>
            <a:endParaRPr lang="en-US" sz="1707" dirty="0"/>
          </a:p>
        </p:txBody>
      </p:sp>
      <p:sp>
        <p:nvSpPr>
          <p:cNvPr id="11" name="Shape 7"/>
          <p:cNvSpPr/>
          <p:nvPr/>
        </p:nvSpPr>
        <p:spPr>
          <a:xfrm>
            <a:off x="10166747" y="3805952"/>
            <a:ext cx="487680" cy="487680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319742" y="3887153"/>
            <a:ext cx="181570" cy="3251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61"/>
              </a:lnSpc>
              <a:buNone/>
            </a:pPr>
            <a:r>
              <a:rPr lang="en-US" sz="2561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561" dirty="0"/>
          </a:p>
        </p:txBody>
      </p:sp>
      <p:sp>
        <p:nvSpPr>
          <p:cNvPr id="13" name="Text 9"/>
          <p:cNvSpPr/>
          <p:nvPr/>
        </p:nvSpPr>
        <p:spPr>
          <a:xfrm>
            <a:off x="10871121" y="3805952"/>
            <a:ext cx="2709863" cy="3387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67"/>
              </a:lnSpc>
              <a:buNone/>
            </a:pPr>
            <a:r>
              <a:rPr lang="en-US" sz="2134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Monitoring</a:t>
            </a:r>
            <a:endParaRPr lang="en-US" sz="2134" dirty="0"/>
          </a:p>
        </p:txBody>
      </p:sp>
      <p:sp>
        <p:nvSpPr>
          <p:cNvPr id="14" name="Text 10"/>
          <p:cNvSpPr/>
          <p:nvPr/>
        </p:nvSpPr>
        <p:spPr>
          <a:xfrm>
            <a:off x="10871121" y="4274701"/>
            <a:ext cx="3000613" cy="1734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1"/>
              </a:lnSpc>
              <a:buNone/>
            </a:pPr>
            <a:r>
              <a:rPr lang="en-US" sz="1707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Integrating the system with IoT sensors will allow for continuous monitoring and early detection of disease outbreaks.</a:t>
            </a:r>
            <a:endParaRPr lang="en-US" sz="1707" dirty="0"/>
          </a:p>
        </p:txBody>
      </p:sp>
      <p:sp>
        <p:nvSpPr>
          <p:cNvPr id="15" name="Shape 11"/>
          <p:cNvSpPr/>
          <p:nvPr/>
        </p:nvSpPr>
        <p:spPr>
          <a:xfrm>
            <a:off x="6245066" y="6469380"/>
            <a:ext cx="487680" cy="487680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99133" y="6550581"/>
            <a:ext cx="179427" cy="3251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61"/>
              </a:lnSpc>
              <a:buNone/>
            </a:pPr>
            <a:r>
              <a:rPr lang="en-US" sz="2561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561" dirty="0"/>
          </a:p>
        </p:txBody>
      </p:sp>
      <p:sp>
        <p:nvSpPr>
          <p:cNvPr id="17" name="Text 13"/>
          <p:cNvSpPr/>
          <p:nvPr/>
        </p:nvSpPr>
        <p:spPr>
          <a:xfrm>
            <a:off x="6949440" y="6469380"/>
            <a:ext cx="4867751" cy="3387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67"/>
              </a:lnSpc>
              <a:buNone/>
            </a:pPr>
            <a:r>
              <a:rPr lang="en-US" sz="2134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Disease Management Recommendations</a:t>
            </a:r>
            <a:endParaRPr lang="en-US" sz="2134" dirty="0"/>
          </a:p>
        </p:txBody>
      </p:sp>
      <p:sp>
        <p:nvSpPr>
          <p:cNvPr id="18" name="Text 14"/>
          <p:cNvSpPr/>
          <p:nvPr/>
        </p:nvSpPr>
        <p:spPr>
          <a:xfrm>
            <a:off x="6949440" y="6938129"/>
            <a:ext cx="6922294" cy="6936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1"/>
              </a:lnSpc>
              <a:buNone/>
            </a:pPr>
            <a:r>
              <a:rPr lang="en-US" sz="1707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Expanding the system to provide personalized disease management recommendations based on the prediction results.</a:t>
            </a:r>
            <a:endParaRPr lang="en-US" sz="170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782</Words>
  <Application>Microsoft Office PowerPoint</Application>
  <PresentationFormat>Custom</PresentationFormat>
  <Paragraphs>98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Arial Rounded MT Bold</vt:lpstr>
      <vt:lpstr>Calibri</vt:lpstr>
      <vt:lpstr>Garamond</vt:lpstr>
      <vt:lpstr>Gelasio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bari</cp:lastModifiedBy>
  <cp:revision>9</cp:revision>
  <dcterms:created xsi:type="dcterms:W3CDTF">2024-08-28T04:53:43Z</dcterms:created>
  <dcterms:modified xsi:type="dcterms:W3CDTF">2025-03-14T08:43:25Z</dcterms:modified>
</cp:coreProperties>
</file>